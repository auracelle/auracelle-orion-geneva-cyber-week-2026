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00584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201168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301752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0"/>
            <a:ext cx="8942832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0" y="45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 · CICG · MAY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73152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Orion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 Governance Wargaming for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Stability and Policy Resilience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16459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00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E-AGPO-HT v2.0 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520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 · Geneva Cyber Week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651760" cy="1325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65760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
</a:t>
            </a:r>
            <a:pPr indent="0" marL="0">
              <a:buNone/>
            </a:pPr>
            <a:r>
              <a:rPr lang="en-US" sz="9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&amp; PI · Auracelle AI Governance Labs
</a:t>
            </a:r>
            <a:pPr indent="0" marL="0">
              <a:buNone/>
            </a:pPr>
            <a:r>
              <a:rPr lang="en-US" sz="9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Non-Resident Senior Fellow · UC Berkeley CLTC
</a:t>
            </a:r>
            <a:pPr indent="0" marL="0">
              <a:buNone/>
            </a:pPr>
            <a:r>
              <a:rPr lang="en-US" sz="9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Role Member · NATO STO SAS-219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 · Verification · Systems that can build trust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 governance operates at the speed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policy. Adversaries do not.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governance exercises rehearse consensus. Few stress-test the decision under adversary pressure, time constraints, and cascading domain failures.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2788920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788920"/>
            <a:ext cx="82296" cy="2029968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2064" y="331012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policy,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threat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39136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frameworks are written for steady state. Adversaries operate in the seams between regulation cycles.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2788920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788920"/>
            <a:ext cx="82296" cy="2029968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56432" y="331012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Tabletop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teeth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6432" y="39136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exercises rehearse consensus. Few pressure-test the decision against a live adversary with compound TTPs.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788920"/>
            <a:ext cx="27432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2788920"/>
            <a:ext cx="82296" cy="202996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0" y="331012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 factors,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ignored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9136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break in the gray zone — where geopolitics, culture, and demographics distort every rule set.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we cannot rehearse the decision, we cannot govern the system.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Orion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cyber governance wargaming platform — domain-portable across all frontier technology areas.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2542032"/>
            <a:ext cx="4160520" cy="10789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542032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Turn-based scenarios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29443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5-turn lifecycle per scenario — from initial threat entry through governance consolidation and After-Action Review.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542032"/>
            <a:ext cx="4160520" cy="10789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542032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E-AGPO-HT v2.0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9443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Evans-Accelerated Governance Policy Optimization framework. Multi-domain governance scoring with nonlinear cross-domain coupling.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730752"/>
            <a:ext cx="4160520" cy="10789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730752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Domain-portable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413308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and Nuclear cybersecurity domains live in the same instrument. Space, Biotech, Quantum extend the same governance function.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730752"/>
            <a:ext cx="4160520" cy="107899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730752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Quantified decisions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413308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option produces a quantified governance quality score that tracks decision quality across timing, coordination, compliance, supply chain trust, and attribution dimensions.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mathematical intelligence sits inside. What you see is its operating face — descriptive, not formulaic.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CYBERSECURITY DOMAIN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scenarios · supply chain compromise to nation-state implant.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965960"/>
            <a:ext cx="416052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65960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MIRAGE CHAIN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SolarWinds-class  ·  λ=0.15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SC-SBOM · SC-CONC · IFD/SWD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supply-chain compromise cascading to ICS/OT infrastructure across allied networks.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416052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965960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057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30368" y="2057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IRONCLAD SIEGE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286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Industroyer-class  ·  λ=0.10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4608" y="24871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SC-GREY · HW-PROV · SC-PATCH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64608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OT/ICS targeted attack via grey-market firmware implants with sector-wide patch velocity failure.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383280"/>
            <a:ext cx="416052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383280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74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474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FRACTURE POINT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XZ Utils-class  ·  λ=0.05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904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SC-SBOM · GOV-COORD · DEP-TRST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Cloud-native dependency poisoning with CSIRT coordination failure across 14 national authorities.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4160520" cy="12618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383280"/>
            <a:ext cx="41605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474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0368" y="34747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PHANTOM CIRCUIT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3703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Nation-state implant  ·  λ=0.20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3904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SC-GREY · HW-BOM · Attribution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64608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Long-duration hardware implant targeting NC3-adjacent OT — dwell 11 months before activation.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 CYBERSECURITY DOMAIN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new scenarios — safeguards, enrichment, and transport.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Developed with UNIDIR's disarmament and strategic stability mandate specifically in mind.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286000"/>
            <a:ext cx="8449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286000"/>
            <a:ext cx="82296" cy="80467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0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 ·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72768" y="2350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SAFEGUARD ZERO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IAEA Safeguards-class  ·  λ=0.25  w_IFD=0.60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NUC-VERIFY · IFD-SCADA · IAEA-COORD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3192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Cyberattack via compromised SCADA vendor update blacks out 14/18 in-containment sensors. Article 77 notification obligation active. Material accountancy integrity crisis.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182112"/>
            <a:ext cx="8449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182112"/>
            <a:ext cx="82296" cy="80467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 ·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72768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FISSION GATE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4564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Stuxnet-class  ·  λ=0.20  w_IFD=0.50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639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NUC-CTRL · SC-GREY · OT-ENRICH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31920" y="32735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Grey-market USB delivers PLC ladder logic modifications to centrifuge engineering workstation. 147 rotors cycling at irregular frequencies. Staged multi-cascade compromise.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078224"/>
            <a:ext cx="844905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4078224"/>
            <a:ext cx="82296" cy="80467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42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 ·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72768" y="4142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YELLOWCAKE RUN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3525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Supply-chain mineral attack  ·  λ=0.18  w_IFD=0.35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5354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SC-PROVENANCE · IAEA-ITDB · CHAIN-AUTH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31920" y="41696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 material transport authentication falsified via shared rare earth logistics platform (HHI=0.61). 2 Category III containers missing. RE–nuclear nexus exposed.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turns. Four options. One governance legacy.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1600200" cy="2633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38528"/>
            <a:ext cx="160020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propagation chain and severity briefing. Domain scores initialise.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84832" y="1938528"/>
            <a:ext cx="1600200" cy="2633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1938528"/>
            <a:ext cx="160020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19456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962656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 up to 3 tokens: Technical Observable, Adversarial Signal, or Governance Quality.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22192" y="1938528"/>
            <a:ext cx="1600200" cy="2633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2192" y="1938528"/>
            <a:ext cx="160020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9319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962656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from 4 governance options. Each shows trade-off tags before you commit.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59552" y="1938528"/>
            <a:ext cx="1600200" cy="2633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9552" y="1938528"/>
            <a:ext cx="160020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66928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2962656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scores update. Cascade alert fires if g-GCC threshold approached.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96912" y="1938528"/>
            <a:ext cx="1600200" cy="26334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938528"/>
            <a:ext cx="1600200" cy="54864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74066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06640" y="2962656"/>
            <a:ext cx="13898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After-Action Review. Governance quality scored. Counterfactual shown. Next turn loads.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47672" y="2880360"/>
            <a:ext cx="137160" cy="0"/>
          </a:xfrm>
          <a:prstGeom prst="line">
            <a:avLst/>
          </a:prstGeom>
          <a:noFill/>
          <a:ln w="19050">
            <a:solidFill>
              <a:srgbClr val="E8A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85032" y="2880360"/>
            <a:ext cx="137160" cy="0"/>
          </a:xfrm>
          <a:prstGeom prst="line">
            <a:avLst/>
          </a:prstGeom>
          <a:noFill/>
          <a:ln w="19050">
            <a:solidFill>
              <a:srgbClr val="E8A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2392" y="2880360"/>
            <a:ext cx="137160" cy="0"/>
          </a:xfrm>
          <a:prstGeom prst="line">
            <a:avLst/>
          </a:prstGeom>
          <a:noFill/>
          <a:ln w="19050">
            <a:solidFill>
              <a:srgbClr val="E8A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59752" y="2880360"/>
            <a:ext cx="137160" cy="0"/>
          </a:xfrm>
          <a:prstGeom prst="line">
            <a:avLst/>
          </a:prstGeom>
          <a:noFill/>
          <a:ln w="19050">
            <a:solidFill>
              <a:srgbClr val="E8A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turn is logged, scored, and replayable across participant groups.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COVERAGE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decision is scored against live regulatory obligations.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41605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93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 GOVERNANCE FRAMEWORKS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36008" y="1938528"/>
            <a:ext cx="4160520" cy="347472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93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 GOVERNANCE FRAMEWORKS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39572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395728"/>
            <a:ext cx="64008" cy="530352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41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 14028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SBOM delivery mandate · federal software supply chain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01752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017520"/>
            <a:ext cx="64008" cy="530352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NIS2 Directive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72-hour incident notification · significant incident threshold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63931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39312"/>
            <a:ext cx="64008" cy="530352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85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CISA KEV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Exploited Vulnerabilities · 14-day patch SLA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426110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261104"/>
            <a:ext cx="64008" cy="530352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068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Cyber Resilience 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535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SBOM and vulnerability disclosure obligations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36008" y="239572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008" y="2395728"/>
            <a:ext cx="64008" cy="53035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2441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IAEA CSA · Article 77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91456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 accountancy notification obligation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36008" y="301752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36008" y="3017520"/>
            <a:ext cx="64008" cy="53035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3063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IAEA Additional Protocol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91456" y="3291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safeguards and complementary access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36008" y="363931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008" y="3639312"/>
            <a:ext cx="64008" cy="53035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685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CPPNM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91456" y="3913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 on Physical Protection of Nuclear Material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36008" y="426110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4261104"/>
            <a:ext cx="64008" cy="53035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43068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NPT Normative Framework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91456" y="4535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Non-Proliferation Treaty — safeguards integrity norms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Domain-portable. Governance-function specific.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frontier domain (AI, Nuclear, Space, Biotech, Quantum) is the subject matter. The governance function defines the platform.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267712"/>
            <a:ext cx="397764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267712"/>
            <a:ext cx="3977640" cy="73152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ORION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Cybersecurity Governance Function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Where does the cyber attack surface intersect with governance failure?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Stress-tests cybersecurity layer across any frontier domain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027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AI · Nuclear · Space · Biotech · Quantum — same governance function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E-AGPO-HT v2.0 · Master governance score · Decision quality outcome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7 scenarios live · Geneva Cyber Week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267712"/>
            <a:ext cx="3977640" cy="24688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267712"/>
            <a:ext cx="3977640" cy="73152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E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LYRA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56048" y="26334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&amp; Validation Governance Function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Where do inspection regimes and control architectures break down?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Stress-tests verification, audit, and compliance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36027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Dual-framework: E-AGPO-HT + E-AGSO-HT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3950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IAEA ITDB calibration · nuclear transport evasion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6048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IAEA Safeguards Symposium 2026 · Track 3.5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platforms can be pointed at the same scenario — from different governance angles.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IMPLICATIONS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Orion matters for multilateral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cyber stability governance.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22677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267712"/>
            <a:ext cx="82296" cy="1234440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Falsifiable policy claims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governance assertions out of the realm of conviction and into replayable decision evidence. Governance quality scores are comparable across groups and iterations.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2677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267712"/>
            <a:ext cx="82296" cy="1234440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Multilateral interoperability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reproducible instrument lets allied analysts run the same scenario against the same adversary, then compare governance quality scores across jurisdictions.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6393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639312"/>
            <a:ext cx="82296" cy="123444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Nuclear-cyber nexus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0233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Orion is the first governance wargaming platform with scenarios spanning both cyber supply chain and nuclear safeguards — the convergence domain strategic stability analysis requires.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6393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639312"/>
            <a:ext cx="82296" cy="1234440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judgment, preserved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supports scoring; the decision — and the doctrine — stays with the analyst. Orion demonstrates how AI can support governance without displacing human judgment.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 · Verification · Systems that can build trust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846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 · Founder &amp; PI, Auracelle AI Governance Labs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INSTITUTIONAL CONTEXT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arc. Not a prototype.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7472" y="1993392"/>
            <a:ext cx="2743200" cy="28163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93392"/>
            <a:ext cx="2743200" cy="64008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Bath Spa University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Doctoral research on wargaming methodologies for AI governance policy outcomes.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Supervisor: Dr. John Curry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Full-time enrollment · BSU IP protection protocol established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993392"/>
            <a:ext cx="2743200" cy="28163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993392"/>
            <a:ext cx="2743200" cy="64008"/>
          </a:xfrm>
          <a:prstGeom prst="rect">
            <a:avLst/>
          </a:prstGeom>
          <a:solidFill>
            <a:srgbClr val="2EBFA5"/>
          </a:solidFill>
          <a:ln w="12700">
            <a:solidFill>
              <a:srgbClr val="2E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E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ALLIANCE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NATO STO SAS-219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Role Member · WinterStorm 2030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Subgroups R4 (Disruptive Capabilities) · R5 (Digitally-Enabled Wargaming) · R7 (Diplomacy)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North Scenarios for Wargaming and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1993392"/>
            <a:ext cx="2743200" cy="281635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993392"/>
            <a:ext cx="2743200" cy="640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0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73368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 Berkeley CLTC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3368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Non-Resident Senior Fellow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Center for Long-Term Cybersecurity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Governance, simulation, and decision-making under pressure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754880"/>
            <a:ext cx="8449056" cy="3200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Accepted: Geneva Cyber Week 2026  ·  Submitted: IAEA Safeguards Symposium 2026 (Auracelle Lyra · Track 3.5)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00584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201168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301752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0"/>
            <a:ext cx="8942832" cy="0"/>
          </a:xfrm>
          <a:prstGeom prst="line">
            <a:avLst/>
          </a:prstGeom>
          <a:noFill/>
          <a:ln w="6350">
            <a:solidFill>
              <a:srgbClr val="1E33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0"/>
            <a:ext cx="8942832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 · AI GOVERNANCE LABS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0" y="73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GENEVA CYBER WEEK 2026 · END BRIEF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685800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Wargame the governance decision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the world does.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1645920" cy="54864"/>
          </a:xfrm>
          <a:prstGeom prst="rect">
            <a:avLst/>
          </a:prstGeom>
          <a:solidFill>
            <a:srgbClr val="E8A444"/>
          </a:solidFill>
          <a:ln w="12700">
            <a:solidFill>
              <a:srgbClr val="E8A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· Demonstration · Collaboration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2907792"/>
            <a:ext cx="4389120" cy="17190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99232"/>
            <a:ext cx="4114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Grace-Alice Evans
</a:t>
            </a:r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&amp; Principal Investigator
Auracelle AI Governance Labs
</a:t>
            </a:r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Non-Resident Senior Fellow · UC Berkeley CLTC
</a:t>
            </a:r>
            <a:pPr indent="0" marL="0">
              <a:buNone/>
            </a:pPr>
            <a:r>
              <a:rPr lang="en-US" sz="1000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Role Member · NATO STO SAS-219
</a:t>
            </a:r>
            <a:pPr indent="0" marL="0">
              <a:buNone/>
            </a:pPr>
            <a:r>
              <a:rPr lang="en-US" sz="10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Doctoral Candidate · Bath Spa University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2907792"/>
            <a:ext cx="3703320" cy="1719072"/>
          </a:xfrm>
          <a:prstGeom prst="rect">
            <a:avLst/>
          </a:prstGeom>
          <a:solidFill>
            <a:srgbClr val="162030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91072" y="3017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auracelle.github.io/Auracelle-Orion-Geneva-Cyber-Week-2026/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85232" y="3520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91072" y="3520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linkedin.com/in/grace-alice-evans-5a9632a3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85232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Charlie Demo: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91072" y="4023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youtube.com/watch?v=nTznkPu_Dco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 · Verification · Systems that can build trust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Auracelle Orion — Geneva Cyber Week 2026</dc:title>
  <dc:subject>PptxGenJS Presentation</dc:subject>
  <dc:creator>Grace-Alice Evans</dc:creator>
  <cp:lastModifiedBy>Grace-Alice Evans</cp:lastModifiedBy>
  <cp:revision>1</cp:revision>
  <dcterms:created xsi:type="dcterms:W3CDTF">2026-04-29T13:37:26Z</dcterms:created>
  <dcterms:modified xsi:type="dcterms:W3CDTF">2026-04-29T13:37:26Z</dcterms:modified>
</cp:coreProperties>
</file>